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147470455" r:id="rId2"/>
    <p:sldId id="258" r:id="rId3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680D18-34C4-4F05-8E7F-98579B02A718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93AE69-9431-4E66-B6B2-1ED44EC290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1998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5bf5e290e4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3" name="Google Shape;123;g5bf5e290e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854311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D01A4-D13C-17F5-7A05-FC75CC29D3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EB4A41-5B1A-E9C5-BBF7-14C07E0D73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BB814D-8CC0-DD0C-C93C-AB6C60DAD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EF2521-F35B-7EA1-0ED0-C604241C7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7BC144-44B5-52F0-04F5-2AA9EE4DC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464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CFD37-ED50-8224-780A-5F71825BA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D403C-78FF-7559-42BE-4805129ED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3E59A-28B6-6389-9E7D-6FAD8B154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AB1EC9-2CF1-559B-388D-5B0273229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F417D2-4C8E-6F30-7F84-8EE62CCC1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3330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7DBB8-BC14-ED52-B3E1-BCA1C19E2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8C4E00-4C6A-9329-D28F-0EF3B4A644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FC32E-F998-F184-0952-CB595810A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63DA70-304C-5E52-BE0C-12E423284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EB0F01-4516-31AB-FB91-EC368CB88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3208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8B5E2-28B4-49E6-7823-5E91272F6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FB7C00-8E32-5143-B235-C303531064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021203-2A81-2F20-84BF-6B1CC2D5B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9DDABF-4327-2C5D-C6CA-C3AB524E8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2D6A18-523A-7B2D-5502-5B0D14C9B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CDB04E-6F42-4312-4758-F20159807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4023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3653A-3753-4F18-5BAB-D6F52DB53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148B29-A976-5C5B-A926-515F2D8502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64B2A8-D71D-96D8-7DCC-F71B530668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259856-39E3-D0E3-07C6-D01E036259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420163-B329-45DD-12FC-B938C8F842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EF96A1-E217-9007-14B3-59B57C57D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B73355-EFED-0583-2A0C-FE17CEBD4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C8E3C3-C126-0887-E91F-8C7B10E77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6874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25766-55D5-8204-9C3E-5EA21FDC4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B2EA80-FAC7-C5FE-DFF4-487CF6532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C868C9-E06C-8C99-0E68-FE4E6132A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BF8B1-C7E5-B08F-A027-1762068CD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1967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BB9392-D62D-4C63-0570-2FD250B6E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D98DB6-5657-1D34-EB9B-1280CB6BA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CE970E-5CFA-7969-64D6-BCE3814D9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5064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43AA3-F32D-B4CF-84DC-5C4590781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89A72-7EE1-4635-04E0-21D348EBBA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966BCB-47AB-AD80-B412-3626D60306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A4128A-8A68-CCD6-9CB0-4DED7201D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1EF1A1-5F54-F581-51D7-74F192117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4B7EF1-AED4-78CB-E674-B234815B7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5527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89947-AC87-E74D-80A3-E0FC3DD75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C941AF-92FA-6DD7-FF62-AA4F4A9E9F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3939AE-358D-938B-9B29-D1F1F2807D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7312C9-981A-EC02-3C3F-2896C69A2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D993EA-3638-F793-77B5-2B62F5519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8840D6-B887-FA5C-76DD-071F3329A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1745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39B38-F264-C78F-4C27-470AEE48D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2720CA-D78A-926B-F5AD-6731F5EA88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9C2D41-8883-6C21-CDBF-7676A0C81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9FE2C7-99BF-D034-CFC0-67A958E99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455EF2-3CEB-F660-1B11-4F45A1095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287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B0B632-8D7D-180F-5902-F59B797043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A6D160-FD48-DA01-BC3D-929F72143D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E2082A-68AE-AF1E-F362-28F7E0D59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6BE94-2198-8B52-651A-FC97B2405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ACAD06-EF0A-F2BD-B474-F9E0B0B00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46999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userDrawn="1">
  <p:cSld name="1_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2791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5EAC0D-7A99-7716-2A23-628AAABDF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FC703F-32F9-694F-A426-733C54992D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16258-FA0D-F01C-B91C-DE1F166A7F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2E0E75-24B2-72E9-5E59-91CF140581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9822D-35BE-76D4-2B5C-FEE5CF60F0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9798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men in suits looking at a file&#10;&#10;Description automatically generated">
            <a:extLst>
              <a:ext uri="{FF2B5EF4-FFF2-40B4-BE49-F238E27FC236}">
                <a16:creationId xmlns:a16="http://schemas.microsoft.com/office/drawing/2014/main" id="{2C9D2958-84B8-AE34-3FBE-D863E8F586B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5604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Picture 1">
            <a:extLst>
              <a:ext uri="{FF2B5EF4-FFF2-40B4-BE49-F238E27FC236}">
                <a16:creationId xmlns:a16="http://schemas.microsoft.com/office/drawing/2014/main" id="{9A79D984-E2D5-5168-3ECE-22D5BA9DB2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7020000" cy="5140800"/>
          </a:xfrm>
          <a:prstGeom prst="rect">
            <a:avLst/>
          </a:prstGeom>
        </p:spPr>
      </p:pic>
      <p:sp>
        <p:nvSpPr>
          <p:cNvPr id="129" name="Google Shape;129;p21"/>
          <p:cNvSpPr txBox="1"/>
          <p:nvPr/>
        </p:nvSpPr>
        <p:spPr>
          <a:xfrm>
            <a:off x="273734" y="2203711"/>
            <a:ext cx="4298266" cy="733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7" tIns="68567" rIns="68567" bIns="68567" anchor="t" anchorCtr="0">
            <a:noAutofit/>
          </a:bodyPr>
          <a:lstStyle/>
          <a:p>
            <a:pPr>
              <a:lnSpc>
                <a:spcPts val="4746"/>
              </a:lnSpc>
            </a:pPr>
            <a:r>
              <a:rPr lang="en-US" sz="3000" b="1" dirty="0">
                <a:solidFill>
                  <a:schemeClr val="bg1"/>
                </a:solidFill>
                <a:latin typeface="Segoe UI"/>
                <a:ea typeface="+mn-lt"/>
                <a:cs typeface="Segoe UI"/>
                <a:sym typeface="Nunito"/>
              </a:rPr>
              <a:t>Escalation Matrix</a:t>
            </a:r>
            <a:endParaRPr lang="en-US" sz="3000" b="1" dirty="0">
              <a:solidFill>
                <a:schemeClr val="bg1"/>
              </a:solidFill>
              <a:latin typeface="Segoe UI"/>
              <a:ea typeface="+mn-lt"/>
              <a:cs typeface="Segoe U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D0E9026-13FA-83DB-4E02-C42C40D303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3170" y="0"/>
            <a:ext cx="1730829" cy="652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1240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 advTm="5000">
        <p159:morph option="byObject"/>
      </p:transition>
    </mc:Choice>
    <mc:Fallback xmlns="">
      <p:transition spd="med" advClick="0" advTm="5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/>
        <p:txBody>
          <a:bodyPr/>
          <a:lstStyle/>
          <a:p>
            <a:r>
              <a:t> </a:t>
            </a:r>
          </a:p>
        </p:txBody>
      </p:sp>
      <p:pic>
        <p:nvPicPr>
          <p:cNvPr id="5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2000" y="144000"/>
            <a:ext cx="1191600" cy="331200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C50E243-4A21-2C44-F17A-4286B3AE5C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9969843"/>
              </p:ext>
            </p:extLst>
          </p:nvPr>
        </p:nvGraphicFramePr>
        <p:xfrm>
          <a:off x="360000" y="681750"/>
          <a:ext cx="8423999" cy="3780000"/>
        </p:xfrm>
        <a:graphic>
          <a:graphicData uri="http://schemas.openxmlformats.org/drawingml/2006/table">
            <a:tbl>
              <a:tblPr/>
              <a:tblGrid>
                <a:gridCol w="1180172">
                  <a:extLst>
                    <a:ext uri="{9D8B030D-6E8A-4147-A177-3AD203B41FA5}">
                      <a16:colId xmlns:a16="http://schemas.microsoft.com/office/drawing/2014/main" val="2745931267"/>
                    </a:ext>
                  </a:extLst>
                </a:gridCol>
                <a:gridCol w="266212">
                  <a:extLst>
                    <a:ext uri="{9D8B030D-6E8A-4147-A177-3AD203B41FA5}">
                      <a16:colId xmlns:a16="http://schemas.microsoft.com/office/drawing/2014/main" val="3582336911"/>
                    </a:ext>
                  </a:extLst>
                </a:gridCol>
                <a:gridCol w="1552767">
                  <a:extLst>
                    <a:ext uri="{9D8B030D-6E8A-4147-A177-3AD203B41FA5}">
                      <a16:colId xmlns:a16="http://schemas.microsoft.com/office/drawing/2014/main" val="3038791976"/>
                    </a:ext>
                  </a:extLst>
                </a:gridCol>
                <a:gridCol w="2794335">
                  <a:extLst>
                    <a:ext uri="{9D8B030D-6E8A-4147-A177-3AD203B41FA5}">
                      <a16:colId xmlns:a16="http://schemas.microsoft.com/office/drawing/2014/main" val="3572820169"/>
                    </a:ext>
                  </a:extLst>
                </a:gridCol>
                <a:gridCol w="2630513">
                  <a:extLst>
                    <a:ext uri="{9D8B030D-6E8A-4147-A177-3AD203B41FA5}">
                      <a16:colId xmlns:a16="http://schemas.microsoft.com/office/drawing/2014/main" val="218627890"/>
                    </a:ext>
                  </a:extLst>
                </a:gridCol>
              </a:tblGrid>
              <a:tr h="180000">
                <a:tc gridSpan="5"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Cambria" panose="02040503050406030204" pitchFamily="18" charset="0"/>
                        </a:rPr>
                        <a:t>Operational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C8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65217042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Cambria" panose="02040503050406030204" pitchFamily="18" charset="0"/>
                        </a:rPr>
                        <a:t>Level</a:t>
                      </a:r>
                    </a:p>
                  </a:txBody>
                  <a:tcPr marL="180000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385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Cambria" panose="02040503050406030204" pitchFamily="18" charset="0"/>
                        </a:rPr>
                        <a:t>Name</a:t>
                      </a:r>
                      <a:endParaRPr lang="en-IN" sz="1100" b="1" i="0" u="none" strike="noStrike" dirty="0">
                        <a:solidFill>
                          <a:srgbClr val="FFFFFF"/>
                        </a:solidFill>
                        <a:effectLst/>
                        <a:latin typeface="+mn-lt"/>
                        <a:ea typeface="Cambria" panose="02040503050406030204" pitchFamily="18" charset="0"/>
                      </a:endParaRPr>
                    </a:p>
                  </a:txBody>
                  <a:tcPr marL="180000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385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rtl="0" fontAlgn="ctr"/>
                      <a:r>
                        <a:rPr lang="en-IN" sz="14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  <a:ea typeface="Cambria" panose="02040503050406030204" pitchFamily="18" charset="0"/>
                        </a:rPr>
                        <a:t>Name</a:t>
                      </a:r>
                    </a:p>
                  </a:txBody>
                  <a:tcPr marL="180000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385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Cambria" panose="02040503050406030204" pitchFamily="18" charset="0"/>
                        </a:rPr>
                        <a:t>Role</a:t>
                      </a:r>
                      <a:endParaRPr lang="en-IN" sz="1100" b="1" i="0" u="none" strike="noStrike" dirty="0">
                        <a:solidFill>
                          <a:srgbClr val="FFFFFF"/>
                        </a:solidFill>
                        <a:effectLst/>
                        <a:latin typeface="+mn-lt"/>
                        <a:ea typeface="Cambria" panose="02040503050406030204" pitchFamily="18" charset="0"/>
                      </a:endParaRPr>
                    </a:p>
                  </a:txBody>
                  <a:tcPr marL="180000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385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Cambria" panose="02040503050406030204" pitchFamily="18" charset="0"/>
                        </a:rPr>
                        <a:t>Contact</a:t>
                      </a:r>
                    </a:p>
                  </a:txBody>
                  <a:tcPr marL="180000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38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5920088"/>
                  </a:ext>
                </a:extLst>
              </a:tr>
              <a:tr h="180000">
                <a:tc rowSpan="2">
                  <a:txBody>
                    <a:bodyPr/>
                    <a:lstStyle/>
                    <a:p>
                      <a:pPr algn="l" rtl="0" fontAlgn="ctr"/>
                      <a:r>
                        <a:rPr lang="en-IN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mbria" panose="02040503050406030204" pitchFamily="18" charset="0"/>
                        </a:rPr>
                        <a:t>1</a:t>
                      </a:r>
                      <a:r>
                        <a:rPr lang="en-IN" sz="1100" b="0" i="0" u="none" strike="noStrike" baseline="3000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mbria" panose="02040503050406030204" pitchFamily="18" charset="0"/>
                        </a:rPr>
                        <a:t>st</a:t>
                      </a:r>
                      <a:r>
                        <a:rPr lang="en-IN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mbria" panose="02040503050406030204" pitchFamily="18" charset="0"/>
                        </a:rPr>
                        <a:t> Level</a:t>
                      </a:r>
                    </a:p>
                  </a:txBody>
                  <a:tcPr marL="180000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algn="l" rtl="0" fontAlgn="ctr"/>
                      <a:r>
                        <a:rPr lang="en-IN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mbria" panose="02040503050406030204" pitchFamily="18" charset="0"/>
                        </a:rPr>
                        <a:t>Helpdesk</a:t>
                      </a:r>
                    </a:p>
                  </a:txBody>
                  <a:tcPr marL="180000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l" rtl="0" fontAlgn="ctr"/>
                      <a:r>
                        <a:rPr lang="en-IN" sz="1400" b="0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  <a:ea typeface="Cambria" panose="02040503050406030204" pitchFamily="18" charset="0"/>
                        </a:rPr>
                        <a:t>Helpdesk</a:t>
                      </a:r>
                    </a:p>
                  </a:txBody>
                  <a:tcPr marL="180000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rtl="0" fontAlgn="ctr"/>
                      <a:r>
                        <a:rPr lang="en-IN" sz="1100" b="0" i="0" u="none" strike="noStrike">
                          <a:solidFill>
                            <a:srgbClr val="002060"/>
                          </a:solidFill>
                          <a:effectLst/>
                          <a:latin typeface="+mn-lt"/>
                          <a:ea typeface="Cambria" panose="02040503050406030204" pitchFamily="18" charset="0"/>
                        </a:rPr>
                        <a:t>NSD Helpdesk</a:t>
                      </a:r>
                      <a:endParaRPr lang="en-IN" sz="1100" b="0" i="0" u="none" strike="noStrike" dirty="0">
                        <a:solidFill>
                          <a:srgbClr val="002060"/>
                        </a:solidFill>
                        <a:effectLst/>
                        <a:latin typeface="+mn-lt"/>
                        <a:ea typeface="Cambria" panose="02040503050406030204" pitchFamily="18" charset="0"/>
                      </a:endParaRPr>
                    </a:p>
                  </a:txBody>
                  <a:tcPr marL="180000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0" i="0" u="none" strike="noStrike">
                          <a:solidFill>
                            <a:srgbClr val="002060"/>
                          </a:solidFill>
                          <a:effectLst/>
                          <a:latin typeface="+mn-lt"/>
                          <a:ea typeface="Cambria" panose="02040503050406030204" pitchFamily="18" charset="0"/>
                        </a:rPr>
                        <a:t>8335819700</a:t>
                      </a:r>
                    </a:p>
                  </a:txBody>
                  <a:tcPr marL="180000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5612320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2060"/>
                          </a:solidFill>
                          <a:effectLst/>
                          <a:latin typeface="+mn-lt"/>
                          <a:ea typeface="Cambria" panose="02040503050406030204" pitchFamily="18" charset="0"/>
                        </a:rPr>
                        <a:t>support.operation@embee.co.in</a:t>
                      </a:r>
                    </a:p>
                  </a:txBody>
                  <a:tcPr marL="180000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5841880"/>
                  </a:ext>
                </a:extLst>
              </a:tr>
              <a:tr h="180000">
                <a:tc rowSpan="2">
                  <a:txBody>
                    <a:bodyPr/>
                    <a:lstStyle/>
                    <a:p>
                      <a:pPr algn="l" rtl="0" fontAlgn="ctr"/>
                      <a:r>
                        <a:rPr lang="en-IN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mbria" panose="02040503050406030204" pitchFamily="18" charset="0"/>
                        </a:rPr>
                        <a:t>2</a:t>
                      </a:r>
                      <a:r>
                        <a:rPr lang="en-IN" sz="1100" b="0" i="0" u="none" strike="noStrike" baseline="3000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mbria" panose="02040503050406030204" pitchFamily="18" charset="0"/>
                        </a:rPr>
                        <a:t>nd</a:t>
                      </a:r>
                      <a:r>
                        <a:rPr lang="en-IN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mbria" panose="02040503050406030204" pitchFamily="18" charset="0"/>
                        </a:rPr>
                        <a:t> Level</a:t>
                      </a:r>
                    </a:p>
                  </a:txBody>
                  <a:tcPr marL="180000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EBFF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algn="l" rtl="0" fontAlgn="ctr"/>
                      <a:r>
                        <a:rPr lang="en-IN" sz="1100" b="0" i="0" u="none" strike="noStrike">
                          <a:solidFill>
                            <a:srgbClr val="002060"/>
                          </a:solidFill>
                          <a:effectLst/>
                          <a:latin typeface="+mn-lt"/>
                          <a:ea typeface="Cambria" panose="02040503050406030204" pitchFamily="18" charset="0"/>
                        </a:rPr>
                        <a:t>Rahul Hati</a:t>
                      </a:r>
                      <a:endParaRPr lang="en-IN" sz="1100" b="0" i="0" u="none" strike="noStrike" dirty="0">
                        <a:solidFill>
                          <a:srgbClr val="002060"/>
                        </a:solidFill>
                        <a:effectLst/>
                        <a:latin typeface="+mn-lt"/>
                        <a:ea typeface="Cambria" panose="02040503050406030204" pitchFamily="18" charset="0"/>
                      </a:endParaRPr>
                    </a:p>
                  </a:txBody>
                  <a:tcPr marL="180000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EB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l" rtl="0" fontAlgn="ctr"/>
                      <a:r>
                        <a:rPr lang="en-IN" sz="1400" b="0" i="0" u="none" strike="noStrike" dirty="0">
                          <a:solidFill>
                            <a:srgbClr val="002060"/>
                          </a:solidFill>
                          <a:effectLst/>
                          <a:latin typeface="+mj-lt"/>
                          <a:ea typeface="Cambria" panose="02040503050406030204" pitchFamily="18" charset="0"/>
                        </a:rPr>
                        <a:t>Rahul Hati</a:t>
                      </a:r>
                    </a:p>
                  </a:txBody>
                  <a:tcPr marL="180000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EB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rtl="0" fontAlgn="ctr"/>
                      <a:r>
                        <a:rPr lang="en-IN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mbria" panose="02040503050406030204" pitchFamily="18" charset="0"/>
                        </a:rPr>
                        <a:t>Relationship Manager</a:t>
                      </a:r>
                    </a:p>
                  </a:txBody>
                  <a:tcPr marL="180000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EB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0" i="0" u="none" strike="noStrike">
                          <a:solidFill>
                            <a:srgbClr val="002060"/>
                          </a:solidFill>
                          <a:effectLst/>
                          <a:latin typeface="+mn-lt"/>
                          <a:ea typeface="Cambria" panose="02040503050406030204" pitchFamily="18" charset="0"/>
                        </a:rPr>
                        <a:t>9836454567</a:t>
                      </a:r>
                    </a:p>
                  </a:txBody>
                  <a:tcPr marL="180000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E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597077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mbria" panose="02040503050406030204" pitchFamily="18" charset="0"/>
                        </a:rPr>
                        <a:t>Rahul.hati@embee.co.in</a:t>
                      </a:r>
                    </a:p>
                  </a:txBody>
                  <a:tcPr marL="180000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E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225519"/>
                  </a:ext>
                </a:extLst>
              </a:tr>
              <a:tr h="180000">
                <a:tc rowSpan="2">
                  <a:txBody>
                    <a:bodyPr/>
                    <a:lstStyle/>
                    <a:p>
                      <a:pPr algn="l" rtl="0" fontAlgn="ctr"/>
                      <a:r>
                        <a:rPr lang="en-IN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mbria" panose="02040503050406030204" pitchFamily="18" charset="0"/>
                        </a:rPr>
                        <a:t>3</a:t>
                      </a:r>
                      <a:r>
                        <a:rPr lang="en-IN" sz="1100" b="0" i="0" u="none" strike="noStrike" baseline="3000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mbria" panose="02040503050406030204" pitchFamily="18" charset="0"/>
                        </a:rPr>
                        <a:t>rd</a:t>
                      </a:r>
                      <a:r>
                        <a:rPr lang="en-IN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mbria" panose="02040503050406030204" pitchFamily="18" charset="0"/>
                        </a:rPr>
                        <a:t> Level</a:t>
                      </a:r>
                    </a:p>
                  </a:txBody>
                  <a:tcPr marL="180000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algn="l" rtl="0" fontAlgn="ctr"/>
                      <a:r>
                        <a:rPr lang="en-IN" sz="1100" b="0" i="0" u="none" strike="noStrike">
                          <a:solidFill>
                            <a:srgbClr val="002060"/>
                          </a:solidFill>
                          <a:effectLst/>
                          <a:latin typeface="+mn-lt"/>
                          <a:ea typeface="Cambria" panose="02040503050406030204" pitchFamily="18" charset="0"/>
                        </a:rPr>
                        <a:t>Payel Das</a:t>
                      </a:r>
                      <a:endParaRPr lang="en-IN" sz="1100" b="0" i="0" u="none" strike="noStrike" dirty="0">
                        <a:solidFill>
                          <a:srgbClr val="002060"/>
                        </a:solidFill>
                        <a:effectLst/>
                        <a:latin typeface="+mn-lt"/>
                        <a:ea typeface="Cambria" panose="02040503050406030204" pitchFamily="18" charset="0"/>
                      </a:endParaRPr>
                    </a:p>
                  </a:txBody>
                  <a:tcPr marL="180000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l" rtl="0" fontAlgn="ctr"/>
                      <a:r>
                        <a:rPr lang="en-IN" sz="1400" b="0" i="0" u="none" strike="noStrike">
                          <a:solidFill>
                            <a:srgbClr val="002060"/>
                          </a:solidFill>
                          <a:effectLst/>
                          <a:latin typeface="+mj-lt"/>
                          <a:ea typeface="Cambria" panose="02040503050406030204" pitchFamily="18" charset="0"/>
                        </a:rPr>
                        <a:t>Payel Das</a:t>
                      </a:r>
                    </a:p>
                  </a:txBody>
                  <a:tcPr marL="180000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rtl="0" fontAlgn="ctr"/>
                      <a:r>
                        <a:rPr lang="en-IN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mbria" panose="02040503050406030204" pitchFamily="18" charset="0"/>
                        </a:rPr>
                        <a:t>Operational Lead</a:t>
                      </a:r>
                    </a:p>
                  </a:txBody>
                  <a:tcPr marL="180000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0" i="0" u="none" strike="noStrike">
                          <a:solidFill>
                            <a:srgbClr val="002060"/>
                          </a:solidFill>
                          <a:effectLst/>
                          <a:latin typeface="+mn-lt"/>
                          <a:ea typeface="Cambria" panose="02040503050406030204" pitchFamily="18" charset="0"/>
                        </a:rPr>
                        <a:t>8420498581</a:t>
                      </a:r>
                    </a:p>
                  </a:txBody>
                  <a:tcPr marL="180000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4285329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0" i="0" u="none" strike="noStrike">
                          <a:solidFill>
                            <a:srgbClr val="002060"/>
                          </a:solidFill>
                          <a:effectLst/>
                          <a:latin typeface="+mn-lt"/>
                          <a:ea typeface="Cambria" panose="02040503050406030204" pitchFamily="18" charset="0"/>
                        </a:rPr>
                        <a:t> Payel.das@embee.co.in</a:t>
                      </a:r>
                    </a:p>
                  </a:txBody>
                  <a:tcPr marL="180000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8235579"/>
                  </a:ext>
                </a:extLst>
              </a:tr>
              <a:tr h="180000">
                <a:tc rowSpan="2">
                  <a:txBody>
                    <a:bodyPr/>
                    <a:lstStyle/>
                    <a:p>
                      <a:pPr algn="l" rtl="0" fontAlgn="ctr"/>
                      <a:r>
                        <a:rPr lang="en-IN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mbria" panose="02040503050406030204" pitchFamily="18" charset="0"/>
                        </a:rPr>
                        <a:t>4</a:t>
                      </a:r>
                      <a:r>
                        <a:rPr lang="en-IN" sz="1100" b="0" i="0" u="none" strike="noStrike" baseline="3000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mbria" panose="02040503050406030204" pitchFamily="18" charset="0"/>
                        </a:rPr>
                        <a:t>th</a:t>
                      </a:r>
                      <a:r>
                        <a:rPr lang="en-IN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mbria" panose="02040503050406030204" pitchFamily="18" charset="0"/>
                        </a:rPr>
                        <a:t> Level</a:t>
                      </a:r>
                    </a:p>
                  </a:txBody>
                  <a:tcPr marL="180000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EBFF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algn="l" rtl="0" fontAlgn="ctr"/>
                      <a:r>
                        <a:rPr lang="en-IN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mbria" panose="02040503050406030204" pitchFamily="18" charset="0"/>
                        </a:rPr>
                        <a:t>Sangita Banerjee</a:t>
                      </a:r>
                    </a:p>
                  </a:txBody>
                  <a:tcPr marL="180000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EB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l" rtl="0" fontAlgn="ctr"/>
                      <a:r>
                        <a:rPr lang="en-IN" sz="1400" b="0" i="0" u="none" strike="noStrike" dirty="0">
                          <a:solidFill>
                            <a:srgbClr val="002060"/>
                          </a:solidFill>
                          <a:effectLst/>
                          <a:latin typeface="+mj-lt"/>
                          <a:ea typeface="Cambria" panose="02040503050406030204" pitchFamily="18" charset="0"/>
                        </a:rPr>
                        <a:t>Sangita Banerjee</a:t>
                      </a:r>
                    </a:p>
                  </a:txBody>
                  <a:tcPr marL="180000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EB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rtl="0" fontAlgn="ctr"/>
                      <a:r>
                        <a:rPr lang="en-IN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mbria" panose="02040503050406030204" pitchFamily="18" charset="0"/>
                        </a:rPr>
                        <a:t>Senior Manager Centralized Helpdesk</a:t>
                      </a:r>
                    </a:p>
                  </a:txBody>
                  <a:tcPr marL="180000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EB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mbria" panose="02040503050406030204" pitchFamily="18" charset="0"/>
                        </a:rPr>
                        <a:t>9836300422</a:t>
                      </a:r>
                    </a:p>
                  </a:txBody>
                  <a:tcPr marL="180000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E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3315699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mbria" panose="02040503050406030204" pitchFamily="18" charset="0"/>
                        </a:rPr>
                        <a:t>Sangita.banerjee@embee.co.in</a:t>
                      </a:r>
                    </a:p>
                  </a:txBody>
                  <a:tcPr marL="180000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E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788054"/>
                  </a:ext>
                </a:extLst>
              </a:tr>
              <a:tr h="180000">
                <a:tc gridSpan="5"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Cambria" panose="02040503050406030204" pitchFamily="18" charset="0"/>
                        </a:rPr>
                        <a:t>Technical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C8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mpd="sng">
                      <a:noFill/>
                      <a:prstDash val="solid"/>
                    </a:lnL>
                    <a:lnT w="12700" cmpd="sng">
                      <a:noFill/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52481913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Cambria" panose="02040503050406030204" pitchFamily="18" charset="0"/>
                        </a:rPr>
                        <a:t>Level</a:t>
                      </a:r>
                    </a:p>
                  </a:txBody>
                  <a:tcPr marL="180000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385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Cambria" panose="02040503050406030204" pitchFamily="18" charset="0"/>
                        </a:rPr>
                        <a:t>Name</a:t>
                      </a:r>
                      <a:endParaRPr lang="en-IN" sz="1100" b="1" i="0" u="none" strike="noStrike" dirty="0">
                        <a:solidFill>
                          <a:srgbClr val="FFFFFF"/>
                        </a:solidFill>
                        <a:effectLst/>
                        <a:latin typeface="+mn-lt"/>
                        <a:ea typeface="Cambria" panose="02040503050406030204" pitchFamily="18" charset="0"/>
                      </a:endParaRPr>
                    </a:p>
                  </a:txBody>
                  <a:tcPr marL="180000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385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rtl="0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  <a:ea typeface="Cambria" panose="02040503050406030204" pitchFamily="18" charset="0"/>
                        </a:rPr>
                        <a:t>Name</a:t>
                      </a:r>
                    </a:p>
                  </a:txBody>
                  <a:tcPr marL="180000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385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Cambria" panose="02040503050406030204" pitchFamily="18" charset="0"/>
                        </a:rPr>
                        <a:t>Role</a:t>
                      </a:r>
                      <a:endParaRPr lang="en-IN" sz="1100" b="1" i="0" u="none" strike="noStrike" dirty="0">
                        <a:solidFill>
                          <a:srgbClr val="FFFFFF"/>
                        </a:solidFill>
                        <a:effectLst/>
                        <a:latin typeface="+mn-lt"/>
                        <a:ea typeface="Cambria" panose="02040503050406030204" pitchFamily="18" charset="0"/>
                      </a:endParaRPr>
                    </a:p>
                  </a:txBody>
                  <a:tcPr marL="180000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385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Cambria" panose="02040503050406030204" pitchFamily="18" charset="0"/>
                        </a:rPr>
                        <a:t>Contact</a:t>
                      </a:r>
                    </a:p>
                  </a:txBody>
                  <a:tcPr marL="180000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138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3105118"/>
                  </a:ext>
                </a:extLst>
              </a:tr>
              <a:tr h="180000">
                <a:tc rowSpan="4">
                  <a:txBody>
                    <a:bodyPr/>
                    <a:lstStyle/>
                    <a:p>
                      <a:pPr algn="l" rtl="0" fontAlgn="ctr"/>
                      <a:r>
                        <a:rPr lang="en-IN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mbria" panose="02040503050406030204" pitchFamily="18" charset="0"/>
                        </a:rPr>
                        <a:t>1</a:t>
                      </a:r>
                      <a:r>
                        <a:rPr lang="en-IN" sz="1100" b="0" i="0" u="none" strike="noStrike" baseline="3000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mbria" panose="02040503050406030204" pitchFamily="18" charset="0"/>
                        </a:rPr>
                        <a:t>st</a:t>
                      </a:r>
                      <a:r>
                        <a:rPr lang="en-IN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mbria" panose="02040503050406030204" pitchFamily="18" charset="0"/>
                        </a:rPr>
                        <a:t> Level</a:t>
                      </a:r>
                    </a:p>
                  </a:txBody>
                  <a:tcPr marL="180000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algn="l" rtl="0" fontAlgn="ctr"/>
                      <a:r>
                        <a:rPr lang="en-IN" sz="1100" b="0" i="0" u="none" strike="noStrike">
                          <a:solidFill>
                            <a:srgbClr val="002060"/>
                          </a:solidFill>
                          <a:effectLst/>
                          <a:latin typeface="+mn-lt"/>
                          <a:ea typeface="Cambria" panose="02040503050406030204" pitchFamily="18" charset="0"/>
                        </a:rPr>
                        <a:t>Basudev Pakhira</a:t>
                      </a:r>
                      <a:endParaRPr lang="en-IN" sz="1100" b="0" i="0" u="none" strike="noStrike" dirty="0">
                        <a:solidFill>
                          <a:srgbClr val="002060"/>
                        </a:solidFill>
                        <a:effectLst/>
                        <a:latin typeface="+mn-lt"/>
                        <a:ea typeface="Cambria" panose="02040503050406030204" pitchFamily="18" charset="0"/>
                      </a:endParaRPr>
                    </a:p>
                  </a:txBody>
                  <a:tcPr marL="180000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l" rtl="0" fontAlgn="ctr"/>
                      <a:r>
                        <a:rPr lang="en-IN" sz="14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+mj-lt"/>
                          <a:ea typeface="Cambria" panose="02040503050406030204" pitchFamily="18" charset="0"/>
                        </a:rPr>
                        <a:t>Basudev</a:t>
                      </a:r>
                      <a:r>
                        <a:rPr lang="en-IN" sz="1400" b="0" i="0" u="none" strike="noStrike" dirty="0">
                          <a:solidFill>
                            <a:srgbClr val="002060"/>
                          </a:solidFill>
                          <a:effectLst/>
                          <a:latin typeface="+mj-lt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IN" sz="14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+mj-lt"/>
                          <a:ea typeface="Cambria" panose="02040503050406030204" pitchFamily="18" charset="0"/>
                        </a:rPr>
                        <a:t>Pakhira</a:t>
                      </a:r>
                      <a:endParaRPr lang="en-IN" sz="1400" b="0" i="0" u="none" strike="noStrike" dirty="0">
                        <a:solidFill>
                          <a:srgbClr val="002060"/>
                        </a:solidFill>
                        <a:effectLst/>
                        <a:latin typeface="+mj-lt"/>
                        <a:ea typeface="Cambria" panose="02040503050406030204" pitchFamily="18" charset="0"/>
                      </a:endParaRPr>
                    </a:p>
                  </a:txBody>
                  <a:tcPr marL="180000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l" rtl="0" fontAlgn="ctr"/>
                      <a:r>
                        <a:rPr lang="en-IN" sz="1100" b="0" i="0" u="none" strike="noStrike">
                          <a:solidFill>
                            <a:srgbClr val="002060"/>
                          </a:solidFill>
                          <a:effectLst/>
                          <a:latin typeface="+mn-lt"/>
                          <a:ea typeface="Cambria" panose="02040503050406030204" pitchFamily="18" charset="0"/>
                        </a:rPr>
                        <a:t>Technical Consultant - Azure </a:t>
                      </a:r>
                      <a:endParaRPr lang="en-IN" sz="1100" b="0" i="0" u="none" strike="noStrike" dirty="0">
                        <a:solidFill>
                          <a:srgbClr val="002060"/>
                        </a:solidFill>
                        <a:effectLst/>
                        <a:latin typeface="+mn-lt"/>
                        <a:ea typeface="Cambria" panose="02040503050406030204" pitchFamily="18" charset="0"/>
                      </a:endParaRPr>
                    </a:p>
                  </a:txBody>
                  <a:tcPr marL="180000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2060"/>
                          </a:solidFill>
                          <a:effectLst/>
                          <a:latin typeface="+mn-lt"/>
                          <a:ea typeface="Cambria" panose="02040503050406030204" pitchFamily="18" charset="0"/>
                        </a:rPr>
                        <a:t>8334892775</a:t>
                      </a:r>
                    </a:p>
                  </a:txBody>
                  <a:tcPr marL="180000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0711312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2060"/>
                          </a:solidFill>
                          <a:effectLst/>
                          <a:latin typeface="+mn-lt"/>
                          <a:ea typeface="Cambria" panose="02040503050406030204" pitchFamily="18" charset="0"/>
                        </a:rPr>
                        <a:t>basudev.pakhira@embee.co.in</a:t>
                      </a:r>
                    </a:p>
                  </a:txBody>
                  <a:tcPr marL="180000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1184535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r>
                        <a:rPr lang="en-IN" sz="1100" b="0" i="0" u="none" strike="noStrike">
                          <a:solidFill>
                            <a:srgbClr val="002060"/>
                          </a:solidFill>
                          <a:effectLst/>
                          <a:latin typeface="+mn-lt"/>
                          <a:ea typeface="Cambria" panose="02040503050406030204" pitchFamily="18" charset="0"/>
                        </a:rPr>
                        <a:t>Ranjit Thakur </a:t>
                      </a:r>
                      <a:endParaRPr lang="en-IN" sz="1100">
                        <a:latin typeface="+mn-lt"/>
                      </a:endParaRPr>
                    </a:p>
                  </a:txBody>
                  <a:tcPr marL="180000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l" rtl="0" fontAlgn="ctr"/>
                      <a:r>
                        <a:rPr lang="en-IN" sz="1400" b="0" i="0" u="none" strike="noStrike" dirty="0">
                          <a:solidFill>
                            <a:srgbClr val="002060"/>
                          </a:solidFill>
                          <a:effectLst/>
                          <a:latin typeface="+mj-lt"/>
                          <a:ea typeface="Cambria" panose="02040503050406030204" pitchFamily="18" charset="0"/>
                        </a:rPr>
                        <a:t>Ranjit Thakur </a:t>
                      </a:r>
                    </a:p>
                  </a:txBody>
                  <a:tcPr marL="180000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 marL="180000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mbria" panose="02040503050406030204" pitchFamily="18" charset="0"/>
                        </a:rPr>
                        <a:t>9836988834</a:t>
                      </a:r>
                    </a:p>
                  </a:txBody>
                  <a:tcPr marL="180000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7307844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mbria" panose="02040503050406030204" pitchFamily="18" charset="0"/>
                        </a:rPr>
                        <a:t>ranjit.thakur@embee.co.in </a:t>
                      </a:r>
                    </a:p>
                  </a:txBody>
                  <a:tcPr marL="180000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8667814"/>
                  </a:ext>
                </a:extLst>
              </a:tr>
              <a:tr h="180000">
                <a:tc rowSpan="2">
                  <a:txBody>
                    <a:bodyPr/>
                    <a:lstStyle/>
                    <a:p>
                      <a:pPr algn="l" rtl="0" fontAlgn="ctr"/>
                      <a:r>
                        <a:rPr lang="en-IN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mbria" panose="02040503050406030204" pitchFamily="18" charset="0"/>
                        </a:rPr>
                        <a:t>2</a:t>
                      </a:r>
                      <a:r>
                        <a:rPr lang="en-IN" sz="1100" b="0" i="0" u="none" strike="noStrike" baseline="3000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mbria" panose="02040503050406030204" pitchFamily="18" charset="0"/>
                        </a:rPr>
                        <a:t>nd</a:t>
                      </a:r>
                      <a:r>
                        <a:rPr lang="en-IN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mbria" panose="02040503050406030204" pitchFamily="18" charset="0"/>
                        </a:rPr>
                        <a:t> Level</a:t>
                      </a:r>
                    </a:p>
                  </a:txBody>
                  <a:tcPr marL="180000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EBFF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algn="l" rtl="0" fontAlgn="ctr"/>
                      <a:r>
                        <a:rPr lang="en-IN" sz="11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+mn-lt"/>
                          <a:ea typeface="Cambria" panose="02040503050406030204" pitchFamily="18" charset="0"/>
                        </a:rPr>
                        <a:t>Aloke</a:t>
                      </a:r>
                      <a:r>
                        <a:rPr lang="en-IN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mbria" panose="02040503050406030204" pitchFamily="18" charset="0"/>
                        </a:rPr>
                        <a:t> Ghosh </a:t>
                      </a:r>
                    </a:p>
                  </a:txBody>
                  <a:tcPr marL="180000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EB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l" rtl="0" fontAlgn="ctr"/>
                      <a:r>
                        <a:rPr lang="en-IN" sz="1400" b="0" i="0" u="none" strike="noStrike" dirty="0" err="1">
                          <a:solidFill>
                            <a:srgbClr val="002060"/>
                          </a:solidFill>
                          <a:effectLst/>
                          <a:latin typeface="+mj-lt"/>
                          <a:ea typeface="Cambria" panose="02040503050406030204" pitchFamily="18" charset="0"/>
                        </a:rPr>
                        <a:t>Aloke</a:t>
                      </a:r>
                      <a:r>
                        <a:rPr lang="en-IN" sz="1400" b="0" i="0" u="none" strike="noStrike" dirty="0">
                          <a:solidFill>
                            <a:srgbClr val="002060"/>
                          </a:solidFill>
                          <a:effectLst/>
                          <a:latin typeface="+mj-lt"/>
                          <a:ea typeface="Cambria" panose="02040503050406030204" pitchFamily="18" charset="0"/>
                        </a:rPr>
                        <a:t> Ghosh </a:t>
                      </a:r>
                    </a:p>
                  </a:txBody>
                  <a:tcPr marL="180000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EB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rtl="0" fontAlgn="ctr"/>
                      <a:r>
                        <a:rPr lang="en-IN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mbria" panose="02040503050406030204" pitchFamily="18" charset="0"/>
                        </a:rPr>
                        <a:t>Senior Solution Specialist – Cloud Services </a:t>
                      </a:r>
                    </a:p>
                  </a:txBody>
                  <a:tcPr marL="180000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EB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mbria" panose="02040503050406030204" pitchFamily="18" charset="0"/>
                        </a:rPr>
                        <a:t>9836454567</a:t>
                      </a:r>
                    </a:p>
                  </a:txBody>
                  <a:tcPr marL="180000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E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3423934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mbria" panose="02040503050406030204" pitchFamily="18" charset="0"/>
                        </a:rPr>
                        <a:t>Rahul.hati@embee.co.in</a:t>
                      </a:r>
                    </a:p>
                  </a:txBody>
                  <a:tcPr marL="180000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E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7270162"/>
                  </a:ext>
                </a:extLst>
              </a:tr>
              <a:tr h="180000">
                <a:tc gridSpan="5"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Cambria" panose="02040503050406030204" pitchFamily="18" charset="0"/>
                        </a:rPr>
                        <a:t>Overall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C8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mpd="sng">
                      <a:noFill/>
                      <a:prstDash val="solid"/>
                    </a:lnL>
                    <a:lnT w="12700" cmpd="sng">
                      <a:noFill/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369581201"/>
                  </a:ext>
                </a:extLst>
              </a:tr>
              <a:tr h="180000">
                <a:tc rowSpan="2" gridSpan="2">
                  <a:txBody>
                    <a:bodyPr/>
                    <a:lstStyle/>
                    <a:p>
                      <a:pPr algn="l" rtl="0" fontAlgn="ctr"/>
                      <a:r>
                        <a:rPr lang="en-IN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mbria" panose="02040503050406030204" pitchFamily="18" charset="0"/>
                        </a:rPr>
                        <a:t>Operational &amp; Technical </a:t>
                      </a:r>
                    </a:p>
                  </a:txBody>
                  <a:tcPr marL="180000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 rtl="0" fontAlgn="ctr"/>
                      <a:endParaRPr lang="en-IN" sz="1400" b="0" i="0" u="none" strike="noStrike">
                        <a:solidFill>
                          <a:srgbClr val="002060"/>
                        </a:solidFill>
                        <a:effectLst/>
                        <a:latin typeface="+mj-lt"/>
                        <a:ea typeface="Cambria" panose="020405030504060302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rtl="0" fontAlgn="ctr"/>
                      <a:r>
                        <a:rPr lang="en-IN" sz="1100" b="0" i="0" u="none" strike="noStrike">
                          <a:solidFill>
                            <a:srgbClr val="002060"/>
                          </a:solidFill>
                          <a:effectLst/>
                          <a:latin typeface="+mn-lt"/>
                          <a:ea typeface="Cambria" panose="02040503050406030204" pitchFamily="18" charset="0"/>
                        </a:rPr>
                        <a:t>Nirmalya Ghosh</a:t>
                      </a:r>
                    </a:p>
                  </a:txBody>
                  <a:tcPr marL="180000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rtl="0" fontAlgn="ctr"/>
                      <a:r>
                        <a:rPr lang="en-US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mbria" panose="02040503050406030204" pitchFamily="18" charset="0"/>
                        </a:rPr>
                        <a:t>GM &amp; Lead IT Service &amp; support</a:t>
                      </a:r>
                      <a:endParaRPr lang="en-IN" sz="1100" b="0" i="0" u="none" strike="noStrike" dirty="0">
                        <a:solidFill>
                          <a:srgbClr val="002060"/>
                        </a:solidFill>
                        <a:effectLst/>
                        <a:latin typeface="+mn-lt"/>
                        <a:ea typeface="Cambria" panose="02040503050406030204" pitchFamily="18" charset="0"/>
                      </a:endParaRPr>
                    </a:p>
                  </a:txBody>
                  <a:tcPr marL="180000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mbria" panose="02040503050406030204" pitchFamily="18" charset="0"/>
                        </a:rPr>
                        <a:t>9830226535</a:t>
                      </a:r>
                    </a:p>
                  </a:txBody>
                  <a:tcPr marL="180000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0134176"/>
                  </a:ext>
                </a:extLst>
              </a:tr>
              <a:tr h="180000">
                <a:tc gridSpan="2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mbria" panose="02040503050406030204" pitchFamily="18" charset="0"/>
                        </a:rPr>
                        <a:t>Nirmalya.Ghosh@embee.co.in</a:t>
                      </a:r>
                    </a:p>
                  </a:txBody>
                  <a:tcPr marL="180000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0754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152</Words>
  <Application>Microsoft Office PowerPoint</Application>
  <PresentationFormat>On-screen Show (16:9)</PresentationFormat>
  <Paragraphs>51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Segoe UI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Dipayan Das</dc:creator>
  <cp:lastModifiedBy>Dipayan Das</cp:lastModifiedBy>
  <cp:revision>20</cp:revision>
  <dcterms:created xsi:type="dcterms:W3CDTF">2024-12-10T08:22:04Z</dcterms:created>
  <dcterms:modified xsi:type="dcterms:W3CDTF">2025-03-28T11:32:27Z</dcterms:modified>
</cp:coreProperties>
</file>